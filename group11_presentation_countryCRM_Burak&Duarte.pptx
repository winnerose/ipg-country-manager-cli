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5" r:id="rId4"/>
  </p:sldMasterIdLst>
  <p:notesMasterIdLst>
    <p:notesMasterId r:id="rId23"/>
  </p:notesMasterIdLst>
  <p:sldIdLst>
    <p:sldId id="256" r:id="rId5"/>
    <p:sldId id="257" r:id="rId6"/>
    <p:sldId id="258" r:id="rId7"/>
    <p:sldId id="260" r:id="rId8"/>
    <p:sldId id="259" r:id="rId9"/>
    <p:sldId id="267" r:id="rId10"/>
    <p:sldId id="264" r:id="rId11"/>
    <p:sldId id="266" r:id="rId12"/>
    <p:sldId id="263" r:id="rId13"/>
    <p:sldId id="265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2E8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3541DF-51A8-49BF-93DF-28CC47FF8E7C}" type="datetimeFigureOut">
              <a:rPr lang="tr-TR" smtClean="0"/>
              <a:t>5.01.2026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4A74AB-5CB8-4EFA-A8DC-2911F79D6D4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44081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A74AB-5CB8-4EFA-A8DC-2911F79D6D43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20167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A74AB-5CB8-4EFA-A8DC-2911F79D6D43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32904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A74AB-5CB8-4EFA-A8DC-2911F79D6D43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72789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A74AB-5CB8-4EFA-A8DC-2911F79D6D43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86890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1B3A6-C11E-D4B4-7356-D06CFF70D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110EC2-5594-547F-D9D1-27F80AC1D9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04A0BC-E140-7736-3EF0-83EA9002C2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F6B65-8979-D9C0-E6B6-6C708259E0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A74AB-5CB8-4EFA-A8DC-2911F79D6D43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065663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08A2-9876-D9C5-20A7-3EF91FB87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58223B-AF1D-E291-B7B6-673ABB993D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2FF995-6B91-7AC2-CDB8-1B3CD6C050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90F5A-1E77-B1FA-55D5-F35A767841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A74AB-5CB8-4EFA-A8DC-2911F79D6D43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143639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64507-8BD2-1B27-E349-C1BD15E73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C9CC47-2F28-EC4A-CDC2-ADC3B14F7F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037FB1-B38F-AC94-B21F-81A4CD603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496BD-694F-6B1D-9870-CC62BA3F18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A74AB-5CB8-4EFA-A8DC-2911F79D6D43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196716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13A25-ACD5-2C40-67C4-1443DC43C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075A15-F716-1D02-2F14-E12012690B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AC727C-B4F0-9D3E-182C-07B882C14D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08A10-6F6D-DE19-47A7-A7C6D362A4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A74AB-5CB8-4EFA-A8DC-2911F79D6D43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294330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15705-06AF-3894-EAC0-43525E3B9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AB2F54-54BA-69DF-6D4E-2A87BBC977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CC6C2F-A1EB-328A-19F7-6627DEA230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59D60-875A-B729-9AA7-0D0A5FA5A0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A74AB-5CB8-4EFA-A8DC-2911F79D6D43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587529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007E6-B5CF-3337-5A6C-0768B8413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66B908-9B14-1ADF-F06C-B2BE43D29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4F7DAF-A35B-A315-BE9E-991197622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189ED-2F1E-3EEF-BD95-91015E7186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A74AB-5CB8-4EFA-A8DC-2911F79D6D43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180579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B5360-C585-48C7-25A4-DE28059EC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85FE2C-8D1C-5783-0D6E-03D6FB254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0DD93A-0F31-7F9B-3B31-45A139C10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0EC28-0270-2C43-415F-9177BF1851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A74AB-5CB8-4EFA-A8DC-2911F79D6D43}" type="slidenum">
              <a:rPr lang="tr-TR" smtClean="0"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135024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36D93-E9AD-6A2B-6B89-3582252BE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933727-274A-F6F3-2F84-842F23455A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19EA57-B2D8-9E32-4C9A-728E5CADD5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CF44C8-77E8-74D7-12C8-296C765656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A74AB-5CB8-4EFA-A8DC-2911F79D6D43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939463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A0769-4838-BC35-13B5-D5CC9FD79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46883F-8DD9-82AD-4034-3482ECD4B6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071195-B501-870F-0437-E82D0EF13F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4CAAA-067F-1AA0-1E1E-500E40193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A74AB-5CB8-4EFA-A8DC-2911F79D6D43}" type="slidenum">
              <a:rPr lang="tr-TR" smtClean="0"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922215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E5ED0-93E5-B49F-033B-5F74D1A9A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49A628-155E-DA05-F15E-6E86CE48A2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A71723-216E-C07B-5F39-A21F2A90AF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BCAA1-D92A-33C0-A0F5-4A5014A875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A74AB-5CB8-4EFA-A8DC-2911F79D6D43}" type="slidenum">
              <a:rPr lang="tr-TR" smtClean="0"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204297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3F9B-716A-9144-4CD9-EAA7FBC39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3BB3C2-68DF-39FA-71B7-7B5B557C58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5BBACA-0DC7-9EF9-142D-DF9C4D615D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A301DB-7B77-8B81-5313-6C03321BB2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A74AB-5CB8-4EFA-A8DC-2911F79D6D43}" type="slidenum">
              <a:rPr lang="tr-TR" smtClean="0"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059545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D4441-FC3B-C98E-2D6F-938074FE1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F7BC48-C8AC-9B35-D38B-5D0815A815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6E4958-65AF-BA16-1272-1A54E77CB3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CEBAD-97F2-9FDB-4FA8-CA1004FCFD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A74AB-5CB8-4EFA-A8DC-2911F79D6D43}" type="slidenum">
              <a:rPr lang="tr-TR" smtClean="0"/>
              <a:t>18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06925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D42AD6-E003-B19C-0656-BBDB130174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4E2BDE-0DDB-71BA-51FD-E8A8BF9B94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8355369-CDE7-D8E0-BAE4-BA760C26C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4078-2D78-4884-BA29-2AA929BDE409}" type="datetimeFigureOut">
              <a:rPr lang="pt-PT" smtClean="0"/>
              <a:t>05/01/2026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B675A0B-84C3-FD77-76BC-BB9988D7C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5F2F88D-53E1-CEE1-9C00-2B787A7AE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0C9D2-5E5E-42F8-AAB3-815F109A4869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07526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9B261-7D7C-13A7-D578-8088202B6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B5FD411-99B7-AA5E-0572-EC4101EB0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0ACFA7D-8E2F-2A01-2602-B1A3914C5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4078-2D78-4884-BA29-2AA929BDE409}" type="datetimeFigureOut">
              <a:rPr lang="pt-PT" smtClean="0"/>
              <a:t>05/01/2026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E673D04-63C1-CD6B-10C5-02228E676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8720B64-4B1E-1E33-58E4-DF3762BA3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0C9D2-5E5E-42F8-AAB3-815F109A4869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43302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6E82A9-9A33-E528-5D91-5FEA35809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D234AE0E-F9CA-29CF-0E3E-A8E33A4E8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B05CDAA-54B6-AC4A-EA47-07D59FEF1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4078-2D78-4884-BA29-2AA929BDE409}" type="datetimeFigureOut">
              <a:rPr lang="pt-PT" smtClean="0"/>
              <a:t>05/01/2026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794AE1D-1A64-5DFD-F570-BA0BB42DC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5156376-F4C5-DA21-A410-7165E9BB0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0C9D2-5E5E-42F8-AAB3-815F109A4869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50922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8ECB4-11B3-5DEA-9111-61872639E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707963D-DFBA-BE20-17AD-CB43561F3C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1904F493-91F3-61DF-27A1-FA8C952610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978BF5CB-EB2E-6464-6FD1-A6995493F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4078-2D78-4884-BA29-2AA929BDE409}" type="datetimeFigureOut">
              <a:rPr lang="pt-PT" smtClean="0"/>
              <a:t>05/01/2026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46A74ED7-043B-0B7B-794E-8754498BF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4091DB43-0EFB-744C-F740-35DA21879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0C9D2-5E5E-42F8-AAB3-815F109A4869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82661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7835BD-26DF-1312-D844-60CACC3EC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BA160C82-0BEC-AF69-9978-B806806FD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A7761D55-BD69-4883-F8FB-FE1AF96B96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C3B0F61D-A662-D68D-B9FB-4C010CD601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32AA2EF3-DB0F-EE24-0482-403D3D177D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E259F428-65D0-4D59-00A7-07C2E0E3F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4078-2D78-4884-BA29-2AA929BDE409}" type="datetimeFigureOut">
              <a:rPr lang="pt-PT" smtClean="0"/>
              <a:t>05/01/2026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5402C550-0320-AC9C-4049-8CF7FF18F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BF4730F3-697E-EC83-FC6F-919116D2B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0C9D2-5E5E-42F8-AAB3-815F109A4869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89723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070DDF-6E93-A179-CE67-3EFEB1E66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12A130B1-C6D9-C1B6-EF5B-D5EC46EDB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4078-2D78-4884-BA29-2AA929BDE409}" type="datetimeFigureOut">
              <a:rPr lang="pt-PT" smtClean="0"/>
              <a:t>05/01/2026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4490E7B3-E68E-601E-B5D6-868A2D0BA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31DA8C93-BE39-C3EA-6040-5864648ED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0C9D2-5E5E-42F8-AAB3-815F109A4869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07258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F1528A21-FF02-E53C-4B6E-404E8D391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4078-2D78-4884-BA29-2AA929BDE409}" type="datetimeFigureOut">
              <a:rPr lang="pt-PT" smtClean="0"/>
              <a:t>05/01/2026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1CEBDDAA-FC00-6960-30D0-C6A11AC7F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7DDD7CE8-7BE0-DD05-0D7D-F4E5250D7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0C9D2-5E5E-42F8-AAB3-815F109A4869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1494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D6FEE-2B1D-69EB-C667-8F365D08E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61CA9CE-B7D5-96CB-DA5C-60120C456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85CA758B-57B0-B646-73B1-9F4CD21C9B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AD53D213-A05D-1544-2010-E65BDA365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4078-2D78-4884-BA29-2AA929BDE409}" type="datetimeFigureOut">
              <a:rPr lang="pt-PT" smtClean="0"/>
              <a:t>05/01/2026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6E655054-8CA7-95AA-53D5-82613D6FD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DED8E139-CF99-5322-9F76-5A5CE21AC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0C9D2-5E5E-42F8-AAB3-815F109A4869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23337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30E9D5-68EA-B1AB-D940-05D1FF831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32DF28FC-DFF5-F68C-165B-C9D03E1FE8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F6C78AFC-F2BB-C9DF-5B4D-FFB601EA4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48762A77-95F8-477F-8D10-72F4150DF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4078-2D78-4884-BA29-2AA929BDE409}" type="datetimeFigureOut">
              <a:rPr lang="pt-PT" smtClean="0"/>
              <a:t>05/01/2026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77F22A20-C189-A49C-EA33-617A4F8FA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24C946D2-E2C1-E4EE-7DC8-5C885783F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0C9D2-5E5E-42F8-AAB3-815F109A4869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77325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B8FBEE-6835-F047-D592-651897B73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9DD1977A-E80A-85E1-A282-2C89E2541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8F7FD57-51EC-CE53-D713-101A0855D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4078-2D78-4884-BA29-2AA929BDE409}" type="datetimeFigureOut">
              <a:rPr lang="pt-PT" smtClean="0"/>
              <a:t>05/01/2026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89F2861-854F-AFB5-DFDF-1EEC20EEC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F1AD556-E550-6362-8263-17933F530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0C9D2-5E5E-42F8-AAB3-815F109A4869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30047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F71E56F-2ADB-7C58-1820-46255CACB9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C67E8B53-5A2E-BCFA-C96B-7E926C806D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3C17F3F-4D6A-44A2-AEF4-7DDBA0DE5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F4078-2D78-4884-BA29-2AA929BDE409}" type="datetimeFigureOut">
              <a:rPr lang="pt-PT" smtClean="0"/>
              <a:t>05/01/2026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4F6F557-BC3A-B92D-8DFE-02FB6ABBC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38110DA-9632-F3FB-E930-8A8784CA8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0C9D2-5E5E-42F8-AAB3-815F109A4869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61897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449D3B36-AF9B-6783-A465-836AD41B9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A9D03060-6BEC-6BFF-CA18-31D23DB2F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49E6E93-FBD4-56B6-C83D-0293F5CB6D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AF4078-2D78-4884-BA29-2AA929BDE409}" type="datetimeFigureOut">
              <a:rPr lang="pt-PT" smtClean="0"/>
              <a:t>05/01/2026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BA6BED0-5AFB-6A1C-2264-4FFCBD8BD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6FFD35E-79F1-570B-B3DF-1261F0DE6F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40C9D2-5E5E-42F8-AAB3-815F109A4869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82081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2B36C662-F471-53F1-14E7-06CCD94A6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5267" y="742438"/>
            <a:ext cx="3403569" cy="3457028"/>
          </a:xfrm>
          <a:prstGeom prst="rect">
            <a:avLst/>
          </a:prstGeom>
        </p:spPr>
      </p:pic>
      <p:sp>
        <p:nvSpPr>
          <p:cNvPr id="8" name="Título 7">
            <a:extLst>
              <a:ext uri="{FF2B5EF4-FFF2-40B4-BE49-F238E27FC236}">
                <a16:creationId xmlns:a16="http://schemas.microsoft.com/office/drawing/2014/main" id="{AAE89CC2-E537-7A90-85F8-08AFB5A0B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056" y="5056202"/>
            <a:ext cx="4605868" cy="1569660"/>
          </a:xfrm>
        </p:spPr>
        <p:txBody>
          <a:bodyPr>
            <a:noAutofit/>
          </a:bodyPr>
          <a:lstStyle/>
          <a:p>
            <a:r>
              <a:rPr lang="pt-PT" sz="4000" dirty="0"/>
              <a:t>Created by:</a:t>
            </a:r>
            <a:br>
              <a:rPr lang="pt-PT" sz="4000" dirty="0"/>
            </a:br>
            <a:r>
              <a:rPr lang="pt-PT" sz="4000" dirty="0"/>
              <a:t>Burak &amp; Duarte</a:t>
            </a:r>
          </a:p>
        </p:txBody>
      </p:sp>
      <p:sp>
        <p:nvSpPr>
          <p:cNvPr id="11" name="Marcador de Posição de Conteúdo 4">
            <a:extLst>
              <a:ext uri="{FF2B5EF4-FFF2-40B4-BE49-F238E27FC236}">
                <a16:creationId xmlns:a16="http://schemas.microsoft.com/office/drawing/2014/main" id="{CD1EC67E-3C22-912A-DEB3-336FFC027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981" y="742439"/>
            <a:ext cx="4790019" cy="34570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PT" sz="8000" dirty="0">
                <a:solidFill>
                  <a:srgbClr val="232E87"/>
                </a:solidFill>
              </a:rPr>
              <a:t>COUNTRY </a:t>
            </a:r>
            <a:br>
              <a:rPr lang="pt-PT" sz="8000" dirty="0">
                <a:solidFill>
                  <a:srgbClr val="232E87"/>
                </a:solidFill>
              </a:rPr>
            </a:br>
            <a:r>
              <a:rPr lang="pt-PT" sz="8800" b="1" kern="2400" spc="2000" dirty="0">
                <a:solidFill>
                  <a:srgbClr val="232E87"/>
                </a:solidFill>
              </a:rPr>
              <a:t>CRM</a:t>
            </a:r>
            <a:br>
              <a:rPr lang="pt-PT" sz="8000" dirty="0">
                <a:solidFill>
                  <a:srgbClr val="232E87"/>
                </a:solidFill>
              </a:rPr>
            </a:br>
            <a:r>
              <a:rPr lang="pt-PT" sz="8000" dirty="0">
                <a:solidFill>
                  <a:srgbClr val="232E87"/>
                </a:solidFill>
              </a:rPr>
              <a:t>MANAGER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93D070F-E7A4-A849-F8FC-C08AA20B1F08}"/>
              </a:ext>
            </a:extLst>
          </p:cNvPr>
          <p:cNvSpPr txBox="1"/>
          <p:nvPr/>
        </p:nvSpPr>
        <p:spPr>
          <a:xfrm>
            <a:off x="6001809" y="5056202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i="0" dirty="0">
                <a:solidFill>
                  <a:srgbClr val="232E87"/>
                </a:solidFill>
                <a:effectLst/>
              </a:rPr>
              <a:t>Bachelor's Degree</a:t>
            </a:r>
            <a:br>
              <a:rPr lang="en-US" sz="3200" b="1" i="0" dirty="0">
                <a:solidFill>
                  <a:srgbClr val="232E87"/>
                </a:solidFill>
                <a:effectLst/>
              </a:rPr>
            </a:br>
            <a:r>
              <a:rPr lang="en-US" sz="3200" b="1" i="0" dirty="0">
                <a:solidFill>
                  <a:srgbClr val="232E87"/>
                </a:solidFill>
                <a:effectLst/>
              </a:rPr>
              <a:t>Computer Engineering   </a:t>
            </a:r>
            <a:br>
              <a:rPr lang="en-US" sz="3200" b="1" i="0" dirty="0">
                <a:solidFill>
                  <a:srgbClr val="232E87"/>
                </a:solidFill>
                <a:effectLst/>
              </a:rPr>
            </a:br>
            <a:r>
              <a:rPr lang="en-US" sz="3200" b="1" dirty="0">
                <a:solidFill>
                  <a:srgbClr val="232E87"/>
                </a:solidFill>
              </a:rPr>
              <a:t>&amp; </a:t>
            </a:r>
            <a:r>
              <a:rPr lang="en-US" sz="3200" b="1" i="0" dirty="0">
                <a:solidFill>
                  <a:srgbClr val="232E87"/>
                </a:solidFill>
                <a:effectLst/>
              </a:rPr>
              <a:t>Data Science and A.I.</a:t>
            </a:r>
            <a:endParaRPr lang="pt-PT" sz="3200" dirty="0">
              <a:solidFill>
                <a:srgbClr val="232E87"/>
              </a:solidFill>
            </a:endParaRPr>
          </a:p>
        </p:txBody>
      </p:sp>
      <p:cxnSp>
        <p:nvCxnSpPr>
          <p:cNvPr id="22" name="Conexão reta 21">
            <a:extLst>
              <a:ext uri="{FF2B5EF4-FFF2-40B4-BE49-F238E27FC236}">
                <a16:creationId xmlns:a16="http://schemas.microsoft.com/office/drawing/2014/main" id="{952C2420-49C5-9C25-B50A-E117CF88D774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68580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4338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065978C-130F-32AE-0B74-20508EFBF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Introduction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7A193147-3988-7AEA-A86C-BF7BDDD624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0719" y="2330505"/>
            <a:ext cx="4559425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b="1"/>
              <a:t>Country CRM Manager</a:t>
            </a:r>
            <a:r>
              <a:rPr lang="en-US" sz="2000"/>
              <a:t> is a robust Python console application designed to manage, analyze, and export country data. It provides a user-friendly interface for performing CRUD (Create, Read, Update, Delete)operations, advanced filtering, statistics visualization, and reporting.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This project demonstrates clean code principles, modular architecture, and real-world application features like PDF generation and bulk data handling.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Uma imagem com texto, Tipo de letra, captura de ecrã, design&#10;&#10;Os conteúdos gerados por IA podem estar incorretos.">
            <a:extLst>
              <a:ext uri="{FF2B5EF4-FFF2-40B4-BE49-F238E27FC236}">
                <a16:creationId xmlns:a16="http://schemas.microsoft.com/office/drawing/2014/main" id="{33DBA518-9817-3D4C-2EF0-AAE8974920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11" r="2" b="10633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71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A48122-052A-1396-041B-3BC65007A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PT" sz="4800" dirty="0"/>
              <a:t>Tools and Tech</a:t>
            </a:r>
          </a:p>
        </p:txBody>
      </p:sp>
      <p:sp>
        <p:nvSpPr>
          <p:cNvPr id="5" name="Marcador de Posição de Conteúdo 4">
            <a:extLst>
              <a:ext uri="{FF2B5EF4-FFF2-40B4-BE49-F238E27FC236}">
                <a16:creationId xmlns:a16="http://schemas.microsoft.com/office/drawing/2014/main" id="{66A8EE8C-FF95-AD6A-5490-E340A70AC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PT" dirty="0"/>
          </a:p>
          <a:p>
            <a:r>
              <a:rPr lang="pt-PT" sz="3200" dirty="0"/>
              <a:t>Coding Language: Python</a:t>
            </a:r>
          </a:p>
          <a:p>
            <a:r>
              <a:rPr lang="pt-PT" sz="3200" dirty="0"/>
              <a:t>Development Environment: PyCharm</a:t>
            </a:r>
          </a:p>
          <a:p>
            <a:r>
              <a:rPr lang="pt-PT" sz="3200" dirty="0"/>
              <a:t>Data type: Json Files</a:t>
            </a:r>
          </a:p>
          <a:p>
            <a:r>
              <a:rPr lang="pt-PT" sz="3200" dirty="0" err="1"/>
              <a:t>Version</a:t>
            </a:r>
            <a:r>
              <a:rPr lang="pt-PT" sz="3200" dirty="0"/>
              <a:t> </a:t>
            </a:r>
            <a:r>
              <a:rPr lang="pt-PT" sz="3200" dirty="0" err="1"/>
              <a:t>Control</a:t>
            </a:r>
            <a:r>
              <a:rPr lang="pt-PT" sz="3200" dirty="0"/>
              <a:t> </a:t>
            </a:r>
            <a:r>
              <a:rPr lang="pt-PT" sz="3200" dirty="0" err="1"/>
              <a:t>System</a:t>
            </a:r>
            <a:r>
              <a:rPr lang="pt-PT" sz="3200" dirty="0"/>
              <a:t>: </a:t>
            </a:r>
            <a:r>
              <a:rPr lang="pt-PT" sz="3200" dirty="0" err="1"/>
              <a:t>Git</a:t>
            </a:r>
            <a:endParaRPr lang="pt-PT" sz="3200" dirty="0"/>
          </a:p>
          <a:p>
            <a:r>
              <a:rPr lang="pt-PT" sz="3200" dirty="0" err="1"/>
              <a:t>Library</a:t>
            </a:r>
            <a:r>
              <a:rPr lang="pt-PT" sz="3200" dirty="0"/>
              <a:t>:</a:t>
            </a:r>
          </a:p>
          <a:p>
            <a:pPr lvl="2"/>
            <a:r>
              <a:rPr lang="pt-PT" sz="2400" dirty="0"/>
              <a:t>FPDF2</a:t>
            </a:r>
          </a:p>
          <a:p>
            <a:pPr lvl="2"/>
            <a:endParaRPr lang="pt-PT" sz="2400" dirty="0"/>
          </a:p>
          <a:p>
            <a:endParaRPr lang="pt-PT" dirty="0"/>
          </a:p>
          <a:p>
            <a:endParaRPr lang="pt-PT" dirty="0"/>
          </a:p>
          <a:p>
            <a:endParaRPr lang="pt-PT" dirty="0"/>
          </a:p>
        </p:txBody>
      </p:sp>
      <p:cxnSp>
        <p:nvCxnSpPr>
          <p:cNvPr id="7" name="Conexão reta 6">
            <a:extLst>
              <a:ext uri="{FF2B5EF4-FFF2-40B4-BE49-F238E27FC236}">
                <a16:creationId xmlns:a16="http://schemas.microsoft.com/office/drawing/2014/main" id="{E6D37524-BFDB-D4DA-9C5B-EE13D3E76960}"/>
              </a:ext>
            </a:extLst>
          </p:cNvPr>
          <p:cNvCxnSpPr/>
          <p:nvPr/>
        </p:nvCxnSpPr>
        <p:spPr>
          <a:xfrm>
            <a:off x="-67733" y="1583267"/>
            <a:ext cx="122597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3260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9B5FD68F-97FB-633A-8EB3-99245977A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416" y="1488177"/>
            <a:ext cx="5415908" cy="4763596"/>
          </a:xfrm>
          <a:prstGeom prst="rect">
            <a:avLst/>
          </a:prstGeom>
        </p:spPr>
      </p:pic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08F0A4F-1AE9-0D51-1BC9-E5FB7D17E6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4576" y="1488177"/>
            <a:ext cx="4729264" cy="47635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F1F9FC-3503-75F9-44D5-F72983ADF4C8}"/>
              </a:ext>
            </a:extLst>
          </p:cNvPr>
          <p:cNvSpPr txBox="1"/>
          <p:nvPr/>
        </p:nvSpPr>
        <p:spPr>
          <a:xfrm>
            <a:off x="631857" y="964957"/>
            <a:ext cx="17923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Constants</a:t>
            </a:r>
            <a:endParaRPr lang="tr-TR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31259B-F493-B45C-4E56-E65202E43F25}"/>
              </a:ext>
            </a:extLst>
          </p:cNvPr>
          <p:cNvSpPr txBox="1"/>
          <p:nvPr/>
        </p:nvSpPr>
        <p:spPr>
          <a:xfrm>
            <a:off x="6783882" y="964957"/>
            <a:ext cx="755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Types</a:t>
            </a:r>
            <a:endParaRPr lang="tr-T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45F981-F1CC-1695-A35D-7C8C637EF424}"/>
              </a:ext>
            </a:extLst>
          </p:cNvPr>
          <p:cNvSpPr txBox="1"/>
          <p:nvPr/>
        </p:nvSpPr>
        <p:spPr>
          <a:xfrm>
            <a:off x="611145" y="236895"/>
            <a:ext cx="41799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Application Structure</a:t>
            </a:r>
            <a:endParaRPr lang="tr-TR" sz="3200" b="1" dirty="0"/>
          </a:p>
        </p:txBody>
      </p:sp>
    </p:spTree>
    <p:extLst>
      <p:ext uri="{BB962C8B-B14F-4D97-AF65-F5344CB8AC3E}">
        <p14:creationId xmlns:p14="http://schemas.microsoft.com/office/powerpoint/2010/main" val="2719500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057" name="Arc 2056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EF60B8A-69A7-9E44-F276-5266BAC49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pt-PT"/>
              <a:t>Functionalities</a:t>
            </a:r>
          </a:p>
        </p:txBody>
      </p:sp>
      <p:sp>
        <p:nvSpPr>
          <p:cNvPr id="2059" name="Freeform: Shape 2058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387D27F-39F9-EF9F-7FC9-0BE698B58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1866" y="511293"/>
            <a:ext cx="4660012" cy="56656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4F6D6D0-DD5D-C2C1-6707-8B07C0A07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r>
              <a:rPr lang="en-US" sz="1800" b="1" dirty="0"/>
              <a:t>List all countries</a:t>
            </a:r>
            <a:r>
              <a:rPr lang="en-US" sz="1800" dirty="0"/>
              <a:t>: View database. Options to sort and see details.</a:t>
            </a:r>
          </a:p>
          <a:p>
            <a:r>
              <a:rPr lang="en-US" sz="1800" b="1" dirty="0"/>
              <a:t>Add new country</a:t>
            </a:r>
            <a:r>
              <a:rPr lang="en-US" sz="1800" dirty="0"/>
              <a:t>: Step-by-step wizard to create a record.</a:t>
            </a:r>
          </a:p>
          <a:p>
            <a:r>
              <a:rPr lang="en-US" sz="1800" b="1" dirty="0"/>
              <a:t>Edit country</a:t>
            </a:r>
            <a:r>
              <a:rPr lang="en-US" sz="1800" dirty="0"/>
              <a:t>: Modify existing records by ISO code.</a:t>
            </a:r>
          </a:p>
          <a:p>
            <a:r>
              <a:rPr lang="en-US" sz="1800" b="1" dirty="0"/>
              <a:t>Delete country</a:t>
            </a:r>
            <a:r>
              <a:rPr lang="en-US" sz="1800" dirty="0"/>
              <a:t>: Remove records.</a:t>
            </a:r>
          </a:p>
          <a:p>
            <a:r>
              <a:rPr lang="en-US" sz="1800" b="1" dirty="0"/>
              <a:t>Filter countries</a:t>
            </a:r>
            <a:r>
              <a:rPr lang="en-US" sz="1800" dirty="0"/>
              <a:t>: Find specific subsets of data.</a:t>
            </a:r>
          </a:p>
          <a:p>
            <a:r>
              <a:rPr lang="en-US" sz="1800" b="1" dirty="0"/>
              <a:t>Search countries</a:t>
            </a:r>
            <a:r>
              <a:rPr lang="en-US" sz="1800" dirty="0"/>
              <a:t>: Global text search.</a:t>
            </a:r>
          </a:p>
          <a:p>
            <a:r>
              <a:rPr lang="en-US" sz="1800" b="1" dirty="0"/>
              <a:t>Export to PDF</a:t>
            </a:r>
            <a:r>
              <a:rPr lang="en-US" sz="1800" dirty="0"/>
              <a:t>: Generate countries_report.pdf.</a:t>
            </a:r>
          </a:p>
          <a:p>
            <a:r>
              <a:rPr lang="en-US" sz="1800" b="1" dirty="0"/>
              <a:t>Import from Source</a:t>
            </a:r>
            <a:r>
              <a:rPr lang="en-US" sz="1800" dirty="0"/>
              <a:t>: Bulk load data from text files.</a:t>
            </a:r>
          </a:p>
          <a:p>
            <a:r>
              <a:rPr lang="en-US" sz="1800" b="1" dirty="0"/>
              <a:t>Statistics</a:t>
            </a:r>
            <a:r>
              <a:rPr lang="en-US" sz="1800" dirty="0"/>
              <a:t>: View data insights.</a:t>
            </a:r>
          </a:p>
          <a:p>
            <a:endParaRPr lang="pt-PT" sz="1800" dirty="0"/>
          </a:p>
        </p:txBody>
      </p:sp>
    </p:spTree>
    <p:extLst>
      <p:ext uri="{BB962C8B-B14F-4D97-AF65-F5344CB8AC3E}">
        <p14:creationId xmlns:p14="http://schemas.microsoft.com/office/powerpoint/2010/main" val="1208322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6EFC920F-B85A-4068-BD93-41064EDE9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C559108-BBAE-426C-8564-051D2BA6D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2BC35EE-6650-42D2-AEFB-4B7CD1AFC9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952C743-9049-4DFB-878B-2AB07B6E4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6969DF-4FEB-A11B-9C0E-BE6335A6680F}"/>
              </a:ext>
            </a:extLst>
          </p:cNvPr>
          <p:cNvSpPr txBox="1"/>
          <p:nvPr/>
        </p:nvSpPr>
        <p:spPr>
          <a:xfrm>
            <a:off x="1099425" y="1238081"/>
            <a:ext cx="4709345" cy="9629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800" b="1">
                <a:latin typeface="+mj-lt"/>
                <a:ea typeface="+mj-ea"/>
                <a:cs typeface="+mj-cs"/>
              </a:rPr>
              <a:t>Handlers</a:t>
            </a:r>
            <a:endParaRPr lang="en-US" sz="3800">
              <a:latin typeface="+mj-lt"/>
              <a:ea typeface="+mj-ea"/>
              <a:cs typeface="+mj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39885" y="2372170"/>
            <a:ext cx="43891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C65A7E-CF9C-FC42-5475-9DAABCC53CFF}"/>
              </a:ext>
            </a:extLst>
          </p:cNvPr>
          <p:cNvSpPr txBox="1"/>
          <p:nvPr/>
        </p:nvSpPr>
        <p:spPr>
          <a:xfrm>
            <a:off x="1064480" y="2570738"/>
            <a:ext cx="6052771" cy="3194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What are Handlers?</a:t>
            </a:r>
            <a:r>
              <a:rPr lang="en-US" sz="1400" dirty="0"/>
              <a:t> The handlers component acts as the </a:t>
            </a:r>
            <a:r>
              <a:rPr lang="en-US" sz="1400" b="1" dirty="0"/>
              <a:t>Controller</a:t>
            </a:r>
            <a:r>
              <a:rPr lang="en-US" sz="1400" dirty="0"/>
              <a:t> layer in our application's architecture. It serves as the bridge between: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Presentation Layer</a:t>
            </a:r>
            <a:r>
              <a:rPr lang="en-US" sz="1400" dirty="0"/>
              <a:t> (</a:t>
            </a:r>
            <a:r>
              <a:rPr lang="en-US" sz="1400" dirty="0" err="1"/>
              <a:t>menu_component</a:t>
            </a:r>
            <a:r>
              <a:rPr lang="en-US" sz="1400" dirty="0"/>
              <a:t>): Reads user input and displays output.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Data Layer</a:t>
            </a:r>
            <a:r>
              <a:rPr lang="en-US" sz="1400" dirty="0"/>
              <a:t> (</a:t>
            </a:r>
            <a:r>
              <a:rPr lang="en-US" sz="1400" dirty="0" err="1"/>
              <a:t>data_handler</a:t>
            </a:r>
            <a:r>
              <a:rPr lang="en-US" sz="1400" dirty="0"/>
              <a:t>, </a:t>
            </a:r>
            <a:r>
              <a:rPr lang="en-US" sz="1400" dirty="0" err="1"/>
              <a:t>importer_component</a:t>
            </a:r>
            <a:r>
              <a:rPr lang="en-US" sz="1400" dirty="0"/>
              <a:t>, </a:t>
            </a:r>
            <a:r>
              <a:rPr lang="en-US" sz="1400" dirty="0" err="1"/>
              <a:t>pdf_component</a:t>
            </a:r>
            <a:r>
              <a:rPr lang="en-US" sz="1400" dirty="0"/>
              <a:t>): Manages data storage and core business logic.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Key Responsibilities:</a:t>
            </a:r>
            <a:endParaRPr lang="en-US" sz="14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Orchestrating the flow for specific user actions (e.g., "Add Country").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Validating user input before passing it to the data layer.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Determining which UI messages to show based on operation success or failure.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9594A24-D7E3-CA1C-8DF0-3EAF2A256D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8126" b="-1"/>
          <a:stretch>
            <a:fillRect/>
          </a:stretch>
        </p:blipFill>
        <p:spPr>
          <a:xfrm>
            <a:off x="7117573" y="1604790"/>
            <a:ext cx="4409341" cy="425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545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8A95C6-66E3-5814-D6C1-1D3BA5C66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319FB87-E53A-9A86-C496-AA02FCE65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F50EA48D-D6B2-7179-722E-321B3DBA9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3CE2333-75D0-3E5A-E89A-8E476E8B9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830" y="1546393"/>
            <a:ext cx="1275637" cy="415641"/>
          </a:xfrm>
        </p:spPr>
        <p:txBody>
          <a:bodyPr>
            <a:normAutofit fontScale="90000"/>
          </a:bodyPr>
          <a:lstStyle/>
          <a:p>
            <a:r>
              <a:rPr lang="pt-PT" sz="2400" dirty="0"/>
              <a:t>Handler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2076009-DA3A-4C58-52AF-C36276854A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91EF81-C1B9-7A69-57D8-8E2C4B3A41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9441" y="1962034"/>
            <a:ext cx="4873303" cy="3475224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834BB1-C09E-5EFE-0221-EFCF7E5D39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9294" y="1441727"/>
            <a:ext cx="6070834" cy="4992939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0BF85FB6-26EC-6873-B0C6-FEF775120858}"/>
              </a:ext>
            </a:extLst>
          </p:cNvPr>
          <p:cNvSpPr txBox="1">
            <a:spLocks/>
          </p:cNvSpPr>
          <p:nvPr/>
        </p:nvSpPr>
        <p:spPr>
          <a:xfrm>
            <a:off x="422891" y="246676"/>
            <a:ext cx="545883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dirty="0"/>
              <a:t>List Countries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7B81B985-3501-1973-7971-AD37AA1B4982}"/>
              </a:ext>
            </a:extLst>
          </p:cNvPr>
          <p:cNvSpPr txBox="1">
            <a:spLocks/>
          </p:cNvSpPr>
          <p:nvPr/>
        </p:nvSpPr>
        <p:spPr>
          <a:xfrm>
            <a:off x="5491561" y="1026086"/>
            <a:ext cx="2111019" cy="4156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2400" dirty="0"/>
              <a:t>Main Function</a:t>
            </a:r>
          </a:p>
        </p:txBody>
      </p:sp>
    </p:spTree>
    <p:extLst>
      <p:ext uri="{BB962C8B-B14F-4D97-AF65-F5344CB8AC3E}">
        <p14:creationId xmlns:p14="http://schemas.microsoft.com/office/powerpoint/2010/main" val="1612866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12A6FA-52CB-D528-ED69-672B77CCE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034149C-2F27-8A46-FBF6-95363389F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FBADFC4B-25EA-A7C0-21B2-A6D9C2E79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B2785FA-8A56-A65E-6625-08DA01727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830" y="1546393"/>
            <a:ext cx="1275637" cy="415641"/>
          </a:xfrm>
        </p:spPr>
        <p:txBody>
          <a:bodyPr>
            <a:normAutofit fontScale="90000"/>
          </a:bodyPr>
          <a:lstStyle/>
          <a:p>
            <a:r>
              <a:rPr lang="pt-PT" sz="2400" dirty="0"/>
              <a:t>Handler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A511003-FCBF-1E96-A132-6B8DE61C2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A84A2B-19EE-1AA4-1439-5A2F6A89F1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1872" y="1962034"/>
            <a:ext cx="4873303" cy="2280516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1D98B4-35A5-A000-19C3-4147CE85EB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26960" y="1333107"/>
            <a:ext cx="5458838" cy="5029583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71CFD7FA-F574-FC82-01D4-57D661EC68DF}"/>
              </a:ext>
            </a:extLst>
          </p:cNvPr>
          <p:cNvSpPr txBox="1">
            <a:spLocks/>
          </p:cNvSpPr>
          <p:nvPr/>
        </p:nvSpPr>
        <p:spPr>
          <a:xfrm>
            <a:off x="422891" y="246676"/>
            <a:ext cx="545883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dirty="0"/>
              <a:t>Add Country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DC31C86-CC39-9794-A1BA-9E1CB17BF7A1}"/>
              </a:ext>
            </a:extLst>
          </p:cNvPr>
          <p:cNvSpPr txBox="1">
            <a:spLocks/>
          </p:cNvSpPr>
          <p:nvPr/>
        </p:nvSpPr>
        <p:spPr>
          <a:xfrm>
            <a:off x="5458181" y="858254"/>
            <a:ext cx="2111019" cy="4156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2400" dirty="0"/>
              <a:t>Main Function</a:t>
            </a:r>
          </a:p>
        </p:txBody>
      </p:sp>
    </p:spTree>
    <p:extLst>
      <p:ext uri="{BB962C8B-B14F-4D97-AF65-F5344CB8AC3E}">
        <p14:creationId xmlns:p14="http://schemas.microsoft.com/office/powerpoint/2010/main" val="2897359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A64BB4-E79A-2FE0-81CF-7D6E6BD78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18648CA-09F9-54B6-2A37-5599E2B99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CCD1B92F-9EFB-2479-F8BB-EFA6B2F3E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82CC783-EE45-2E43-295D-190B0A664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830" y="1546393"/>
            <a:ext cx="1275637" cy="415641"/>
          </a:xfrm>
        </p:spPr>
        <p:txBody>
          <a:bodyPr>
            <a:normAutofit fontScale="90000"/>
          </a:bodyPr>
          <a:lstStyle/>
          <a:p>
            <a:r>
              <a:rPr lang="pt-PT" sz="2400" dirty="0"/>
              <a:t>Handler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B0B25D2-2137-8272-A84D-0C602711B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EF43ED-4CDB-9600-2787-CDB8DADD16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0830" y="1962034"/>
            <a:ext cx="4873303" cy="3986508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2188CA-0614-FE67-1565-C6F812E49B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26960" y="1333107"/>
            <a:ext cx="5458838" cy="5029583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DD47CB0A-BFB4-AF7B-D164-DF38328981C7}"/>
              </a:ext>
            </a:extLst>
          </p:cNvPr>
          <p:cNvSpPr txBox="1">
            <a:spLocks/>
          </p:cNvSpPr>
          <p:nvPr/>
        </p:nvSpPr>
        <p:spPr>
          <a:xfrm>
            <a:off x="422891" y="246676"/>
            <a:ext cx="545883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dirty="0"/>
              <a:t>Edit Country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AE302BDF-CFEE-E774-E8CC-1DBBF8DCCC34}"/>
              </a:ext>
            </a:extLst>
          </p:cNvPr>
          <p:cNvSpPr txBox="1">
            <a:spLocks/>
          </p:cNvSpPr>
          <p:nvPr/>
        </p:nvSpPr>
        <p:spPr>
          <a:xfrm>
            <a:off x="5458181" y="858254"/>
            <a:ext cx="2111019" cy="4156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2400" dirty="0"/>
              <a:t>Main Function</a:t>
            </a:r>
          </a:p>
        </p:txBody>
      </p:sp>
    </p:spTree>
    <p:extLst>
      <p:ext uri="{BB962C8B-B14F-4D97-AF65-F5344CB8AC3E}">
        <p14:creationId xmlns:p14="http://schemas.microsoft.com/office/powerpoint/2010/main" val="2796940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B6544C-6209-C2ED-45C6-AF1A5A8CB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57713DD-A9C5-CA76-D3AF-95A388399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A4C0C2CD-CAD4-9FE7-D83C-683574887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1203FD-8C34-514C-F206-3B4D0CC79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830" y="1546393"/>
            <a:ext cx="1275637" cy="415641"/>
          </a:xfrm>
        </p:spPr>
        <p:txBody>
          <a:bodyPr>
            <a:normAutofit fontScale="90000"/>
          </a:bodyPr>
          <a:lstStyle/>
          <a:p>
            <a:r>
              <a:rPr lang="pt-PT" sz="2400" dirty="0"/>
              <a:t>Handler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18FE5BA-2027-400A-20CF-01C4032A31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D6B1E0-2FA9-742A-C4E5-6E4444AB42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2891" y="1962034"/>
            <a:ext cx="4873303" cy="2744268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907116-557D-80F4-A258-63AFD4B875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26959" y="1321999"/>
            <a:ext cx="6242149" cy="5070334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C0251CA2-FF04-EABF-C86A-82082DC4383D}"/>
              </a:ext>
            </a:extLst>
          </p:cNvPr>
          <p:cNvSpPr txBox="1">
            <a:spLocks/>
          </p:cNvSpPr>
          <p:nvPr/>
        </p:nvSpPr>
        <p:spPr>
          <a:xfrm>
            <a:off x="422891" y="246676"/>
            <a:ext cx="545883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dirty="0"/>
              <a:t>Delete Country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BFE81647-D982-8CB4-0FD1-552782204350}"/>
              </a:ext>
            </a:extLst>
          </p:cNvPr>
          <p:cNvSpPr txBox="1">
            <a:spLocks/>
          </p:cNvSpPr>
          <p:nvPr/>
        </p:nvSpPr>
        <p:spPr>
          <a:xfrm>
            <a:off x="5458181" y="858254"/>
            <a:ext cx="2111019" cy="4156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2400" dirty="0"/>
              <a:t>Main Function</a:t>
            </a:r>
          </a:p>
        </p:txBody>
      </p:sp>
    </p:spTree>
    <p:extLst>
      <p:ext uri="{BB962C8B-B14F-4D97-AF65-F5344CB8AC3E}">
        <p14:creationId xmlns:p14="http://schemas.microsoft.com/office/powerpoint/2010/main" val="1811682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F1557B-347D-F8E7-37FC-385C1ED53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121C428-9771-E683-7722-7670D9FB1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361A9704-3FAC-735F-F7EA-38D7A0DE4C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3DD2A12-C57E-E8E4-045F-BE0FABF77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830" y="1546393"/>
            <a:ext cx="1275637" cy="415641"/>
          </a:xfrm>
        </p:spPr>
        <p:txBody>
          <a:bodyPr>
            <a:normAutofit fontScale="90000"/>
          </a:bodyPr>
          <a:lstStyle/>
          <a:p>
            <a:r>
              <a:rPr lang="pt-PT" sz="2400" dirty="0"/>
              <a:t>Handler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55DAFFC-B63A-D56B-51BD-21E217B7D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61AFDF-88BD-7CC5-950E-EF794A9011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7335" y="1984442"/>
            <a:ext cx="4476731" cy="3678334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7858F3-0676-4FC7-02D1-847285B985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22516" y="1476433"/>
            <a:ext cx="6242149" cy="4523313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46C40E68-1D38-B4FF-BC0B-DF41D1ACAC5E}"/>
              </a:ext>
            </a:extLst>
          </p:cNvPr>
          <p:cNvSpPr txBox="1">
            <a:spLocks/>
          </p:cNvSpPr>
          <p:nvPr/>
        </p:nvSpPr>
        <p:spPr>
          <a:xfrm>
            <a:off x="422891" y="246676"/>
            <a:ext cx="545883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dirty="0"/>
              <a:t>Filter Country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840AA5DF-651A-0611-391B-74719B67E06C}"/>
              </a:ext>
            </a:extLst>
          </p:cNvPr>
          <p:cNvSpPr txBox="1">
            <a:spLocks/>
          </p:cNvSpPr>
          <p:nvPr/>
        </p:nvSpPr>
        <p:spPr>
          <a:xfrm>
            <a:off x="5249110" y="1060792"/>
            <a:ext cx="2111019" cy="4156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2400" dirty="0"/>
              <a:t>Main Function</a:t>
            </a:r>
          </a:p>
        </p:txBody>
      </p:sp>
    </p:spTree>
    <p:extLst>
      <p:ext uri="{BB962C8B-B14F-4D97-AF65-F5344CB8AC3E}">
        <p14:creationId xmlns:p14="http://schemas.microsoft.com/office/powerpoint/2010/main" val="3245936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27D622-026A-B7AA-1743-949D60C5A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D7F5FB8-610F-20AD-8172-B803D89A6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6E3234D-4EFB-A442-6E3B-B15ED9F741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2D53168-19B7-2F1D-B933-31A4AB380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830" y="1546393"/>
            <a:ext cx="1275637" cy="415641"/>
          </a:xfrm>
        </p:spPr>
        <p:txBody>
          <a:bodyPr>
            <a:normAutofit fontScale="90000"/>
          </a:bodyPr>
          <a:lstStyle/>
          <a:p>
            <a:r>
              <a:rPr lang="pt-PT" sz="2400" dirty="0"/>
              <a:t>Handler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F972FC-FD5F-5147-49C0-D8B19C4C9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237AE8-BB4D-12AB-E0CE-CEEAF231AB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7335" y="1962034"/>
            <a:ext cx="4476731" cy="2335334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4052D1-8D17-11FD-7ED5-B8B174FDF7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22516" y="1476433"/>
            <a:ext cx="6242149" cy="438804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5BF4FB4A-7F41-EA6F-B186-760ABBA94881}"/>
              </a:ext>
            </a:extLst>
          </p:cNvPr>
          <p:cNvSpPr txBox="1">
            <a:spLocks/>
          </p:cNvSpPr>
          <p:nvPr/>
        </p:nvSpPr>
        <p:spPr>
          <a:xfrm>
            <a:off x="422891" y="246676"/>
            <a:ext cx="545883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dirty="0"/>
              <a:t>Search Country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E3D1F570-F69B-09DB-B52F-1F23BA59EE8F}"/>
              </a:ext>
            </a:extLst>
          </p:cNvPr>
          <p:cNvSpPr txBox="1">
            <a:spLocks/>
          </p:cNvSpPr>
          <p:nvPr/>
        </p:nvSpPr>
        <p:spPr>
          <a:xfrm>
            <a:off x="5249110" y="1060792"/>
            <a:ext cx="2111019" cy="4156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2400" dirty="0"/>
              <a:t>Main Function</a:t>
            </a:r>
          </a:p>
        </p:txBody>
      </p:sp>
    </p:spTree>
    <p:extLst>
      <p:ext uri="{BB962C8B-B14F-4D97-AF65-F5344CB8AC3E}">
        <p14:creationId xmlns:p14="http://schemas.microsoft.com/office/powerpoint/2010/main" val="3449402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05A33D-D7AD-824A-75A1-823D76F0B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BB983F4-D273-073A-0C23-B119B1FA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5E304B61-5EA4-5C93-6EE8-0CB7C18F1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FB4B98A-8D52-9253-E6C3-DD5EED05F9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A83DD127-74B1-F0FC-8436-2641F5B593E6}"/>
              </a:ext>
            </a:extLst>
          </p:cNvPr>
          <p:cNvSpPr txBox="1">
            <a:spLocks/>
          </p:cNvSpPr>
          <p:nvPr/>
        </p:nvSpPr>
        <p:spPr>
          <a:xfrm>
            <a:off x="422891" y="246676"/>
            <a:ext cx="545883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dirty="0"/>
              <a:t>Export &amp; Import</a:t>
            </a:r>
          </a:p>
        </p:txBody>
      </p:sp>
      <p:pic>
        <p:nvPicPr>
          <p:cNvPr id="9" name="Picture 8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1604E769-41C1-7280-ADA6-27FC5C359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41" y="1572239"/>
            <a:ext cx="10272650" cy="1790855"/>
          </a:xfrm>
          <a:prstGeom prst="rect">
            <a:avLst/>
          </a:prstGeom>
        </p:spPr>
      </p:pic>
      <p:pic>
        <p:nvPicPr>
          <p:cNvPr id="13" name="Picture 1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80F4284-80D4-C32D-7AA9-6FA72D974E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1" y="3496366"/>
            <a:ext cx="5845047" cy="245385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9843C6F-8C44-A2FB-B958-FEFFC6C228CE}"/>
              </a:ext>
            </a:extLst>
          </p:cNvPr>
          <p:cNvSpPr txBox="1"/>
          <p:nvPr/>
        </p:nvSpPr>
        <p:spPr>
          <a:xfrm>
            <a:off x="6522720" y="3494907"/>
            <a:ext cx="20715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Export to PDF</a:t>
            </a:r>
            <a:endParaRPr lang="tr-TR" sz="24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50A4CE-3AF9-EFFA-24FD-56F191294C06}"/>
              </a:ext>
            </a:extLst>
          </p:cNvPr>
          <p:cNvSpPr txBox="1"/>
          <p:nvPr/>
        </p:nvSpPr>
        <p:spPr>
          <a:xfrm>
            <a:off x="6522720" y="3955288"/>
            <a:ext cx="4856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It’s export Country Information as PDF </a:t>
            </a:r>
            <a:endParaRPr lang="tr-TR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6E2EE4-9EC6-C51E-00C5-46829889D095}"/>
              </a:ext>
            </a:extLst>
          </p:cNvPr>
          <p:cNvSpPr txBox="1"/>
          <p:nvPr/>
        </p:nvSpPr>
        <p:spPr>
          <a:xfrm>
            <a:off x="5611728" y="6369909"/>
            <a:ext cx="64844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0" i="0" dirty="0">
                <a:solidFill>
                  <a:srgbClr val="1D2125"/>
                </a:solidFill>
                <a:effectLst/>
                <a:latin typeface="Roboto" panose="020F0502020204030204" pitchFamily="2" charset="0"/>
              </a:rPr>
              <a:t>https://download.geonames.org/export/dump/countryInfo.txt</a:t>
            </a:r>
            <a:endParaRPr lang="tr-TR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8AED81-0A65-4B77-8AC4-8CA1B5E071C6}"/>
              </a:ext>
            </a:extLst>
          </p:cNvPr>
          <p:cNvSpPr txBox="1"/>
          <p:nvPr/>
        </p:nvSpPr>
        <p:spPr>
          <a:xfrm>
            <a:off x="6522720" y="4600335"/>
            <a:ext cx="34782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Import from Source File</a:t>
            </a:r>
            <a:endParaRPr lang="tr-TR" sz="24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8B85DE-2622-B154-E3F3-90C53CEF6833}"/>
              </a:ext>
            </a:extLst>
          </p:cNvPr>
          <p:cNvSpPr txBox="1"/>
          <p:nvPr/>
        </p:nvSpPr>
        <p:spPr>
          <a:xfrm>
            <a:off x="6522720" y="5060716"/>
            <a:ext cx="4856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It’s import </a:t>
            </a:r>
            <a:r>
              <a:rPr lang="en-US" dirty="0" err="1"/>
              <a:t>countryInfo</a:t>
            </a:r>
            <a:r>
              <a:rPr lang="en-US" dirty="0"/>
              <a:t> file which contain Country Info from </a:t>
            </a:r>
            <a:r>
              <a:rPr lang="en-US" dirty="0" err="1"/>
              <a:t>GeoNames.Org</a:t>
            </a:r>
            <a:r>
              <a:rPr lang="en-US" dirty="0"/>
              <a:t>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22980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3EFA99-D71D-E250-DB66-087543C52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4B48D38-39DD-432B-82BF-0931DC3DE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7087" y="666728"/>
            <a:ext cx="5286811" cy="546579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189EB564-968F-B6D1-6C43-25B1680B8A69}"/>
              </a:ext>
            </a:extLst>
          </p:cNvPr>
          <p:cNvSpPr txBox="1">
            <a:spLocks/>
          </p:cNvSpPr>
          <p:nvPr/>
        </p:nvSpPr>
        <p:spPr>
          <a:xfrm>
            <a:off x="422891" y="246676"/>
            <a:ext cx="545883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/>
              <a:t>Statistics</a:t>
            </a:r>
            <a:endParaRPr lang="pt-PT" dirty="0"/>
          </a:p>
        </p:txBody>
      </p:sp>
      <p:pic>
        <p:nvPicPr>
          <p:cNvPr id="15" name="Picture 1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AB0B6250-7F70-7F3A-8303-896635F892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22514"/>
            <a:ext cx="5744060" cy="361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865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488860-AD00-62C5-E851-ED1B83572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62BD3C7-94DF-4A6F-4037-97C1DF259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F161215D-D4D1-B2A5-9274-E73B56B48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EC75B81-14FC-0DBC-4A9A-117FF99C2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BE39296-93BB-E24B-0863-4486410B46DA}"/>
              </a:ext>
            </a:extLst>
          </p:cNvPr>
          <p:cNvSpPr txBox="1">
            <a:spLocks/>
          </p:cNvSpPr>
          <p:nvPr/>
        </p:nvSpPr>
        <p:spPr>
          <a:xfrm>
            <a:off x="422890" y="246676"/>
            <a:ext cx="63843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dirty="0"/>
              <a:t>Example of Adding Country</a:t>
            </a:r>
          </a:p>
        </p:txBody>
      </p:sp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7CEE71C-171A-DB72-AF42-B6012B817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93" y="1927158"/>
            <a:ext cx="5646909" cy="3909399"/>
          </a:xfrm>
          <a:prstGeom prst="rect">
            <a:avLst/>
          </a:prstGeom>
        </p:spPr>
      </p:pic>
      <p:pic>
        <p:nvPicPr>
          <p:cNvPr id="13" name="Picture 1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FE134CBD-30C9-E635-810C-28D256F56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799" y="1428435"/>
            <a:ext cx="4473888" cy="490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70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8D6507-6F39-B12C-2411-FE67ABD82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0D5D19D-0789-4518-B5DC-D47ADF69D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B4B227B-1844-81D5-7F63-295820A7FD87}"/>
              </a:ext>
            </a:extLst>
          </p:cNvPr>
          <p:cNvSpPr txBox="1">
            <a:spLocks/>
          </p:cNvSpPr>
          <p:nvPr/>
        </p:nvSpPr>
        <p:spPr>
          <a:xfrm>
            <a:off x="968203" y="2633977"/>
            <a:ext cx="4629571" cy="2387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400" dirty="0"/>
              <a:t>Example of Listing Country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822527D-AE96-34B2-0D9D-AC64861B58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805"/>
          <a:stretch>
            <a:fillRect/>
          </a:stretch>
        </p:blipFill>
        <p:spPr>
          <a:xfrm>
            <a:off x="5922492" y="666728"/>
            <a:ext cx="5536001" cy="546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432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EF726E-3307-8F9C-7EC9-88ADD7205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5A48966-BE97-01EE-716E-26C2559FD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C0BD8BBF-256E-8605-2B56-1C3089ADA1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0C76BD4-5112-CE3F-174D-78EB86616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14184009-14A3-B8E0-6527-417A3BFB0D1F}"/>
              </a:ext>
            </a:extLst>
          </p:cNvPr>
          <p:cNvSpPr txBox="1">
            <a:spLocks/>
          </p:cNvSpPr>
          <p:nvPr/>
        </p:nvSpPr>
        <p:spPr>
          <a:xfrm>
            <a:off x="422890" y="246676"/>
            <a:ext cx="63843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dirty="0"/>
              <a:t>Example of Editing Country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59F9F6-7A87-C34B-C4D7-107DC928D9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4807" y="1401436"/>
            <a:ext cx="5767460" cy="49338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E8B9F5-D907-ABA6-2D55-4962CA19CB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78599" y="2054115"/>
            <a:ext cx="4473888" cy="3215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99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9C0D0A-6B35-7BC4-A0F4-1BC397508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AE0783C9-ECE2-4902-2BBA-E427934C2825}"/>
              </a:ext>
            </a:extLst>
          </p:cNvPr>
          <p:cNvSpPr txBox="1">
            <a:spLocks/>
          </p:cNvSpPr>
          <p:nvPr/>
        </p:nvSpPr>
        <p:spPr>
          <a:xfrm>
            <a:off x="638881" y="457200"/>
            <a:ext cx="10909640" cy="1368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6600" dirty="0"/>
              <a:t>Example of Filtering Country</a:t>
            </a:r>
          </a:p>
        </p:txBody>
      </p:sp>
      <p:sp>
        <p:nvSpPr>
          <p:cNvPr id="76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6112978-B7B9-D622-0EF8-59CE8C0D3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89" y="2642616"/>
            <a:ext cx="5263917" cy="3605784"/>
          </a:xfrm>
          <a:prstGeom prst="rect">
            <a:avLst/>
          </a:prstGeom>
        </p:spPr>
      </p:pic>
      <p:pic>
        <p:nvPicPr>
          <p:cNvPr id="5" name="Picture 4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E324B843-462E-4073-6B09-0C7049F9B2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2642616"/>
            <a:ext cx="5614416" cy="360578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618F553-B70B-4190-F34E-F0830504682D}"/>
              </a:ext>
            </a:extLst>
          </p:cNvPr>
          <p:cNvSpPr/>
          <p:nvPr/>
        </p:nvSpPr>
        <p:spPr>
          <a:xfrm>
            <a:off x="4287520" y="1635760"/>
            <a:ext cx="3667760" cy="50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72273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6ED518BD29A2A8448C14533C37A60B76" ma:contentTypeVersion="4" ma:contentTypeDescription="Yeni belge oluşturun." ma:contentTypeScope="" ma:versionID="8611442d8bd87c3ca4e4a7c267fd50fa">
  <xsd:schema xmlns:xsd="http://www.w3.org/2001/XMLSchema" xmlns:xs="http://www.w3.org/2001/XMLSchema" xmlns:p="http://schemas.microsoft.com/office/2006/metadata/properties" xmlns:ns3="5c15d019-fbda-4e9a-9f11-2356f07cb59d" targetNamespace="http://schemas.microsoft.com/office/2006/metadata/properties" ma:root="true" ma:fieldsID="f5769347bdb5ce505ea925854f393eec" ns3:_="">
    <xsd:import namespace="5c15d019-fbda-4e9a-9f11-2356f07cb59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15d019-fbda-4e9a-9f11-2356f07cb59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BFF69C-7A62-40C1-A67C-36663F415B1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15d019-fbda-4e9a-9f11-2356f07cb59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1135E70-1474-4895-ADBA-4BB2DB4DBC0F}">
  <ds:schemaRefs>
    <ds:schemaRef ds:uri="http://purl.org/dc/terms/"/>
    <ds:schemaRef ds:uri="http://www.w3.org/XML/1998/namespace"/>
    <ds:schemaRef ds:uri="5c15d019-fbda-4e9a-9f11-2356f07cb59d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purl.org/dc/elements/1.1/"/>
    <ds:schemaRef ds:uri="http://schemas.microsoft.com/office/2006/documentManagement/type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58016722-D9A1-4AA9-8F06-5281D5C824C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269</TotalTime>
  <Words>422</Words>
  <Application>Microsoft Office PowerPoint</Application>
  <PresentationFormat>Widescreen</PresentationFormat>
  <Paragraphs>82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Roboto</vt:lpstr>
      <vt:lpstr>Tema do Office</vt:lpstr>
      <vt:lpstr>Created by: Burak &amp; Duarte</vt:lpstr>
      <vt:lpstr>Introduction</vt:lpstr>
      <vt:lpstr>Tools and Tech</vt:lpstr>
      <vt:lpstr>PowerPoint Presentation</vt:lpstr>
      <vt:lpstr>Functionalities</vt:lpstr>
      <vt:lpstr>PowerPoint Presentation</vt:lpstr>
      <vt:lpstr>Handler</vt:lpstr>
      <vt:lpstr>Handler</vt:lpstr>
      <vt:lpstr>Handler</vt:lpstr>
      <vt:lpstr>Handler</vt:lpstr>
      <vt:lpstr>Handler</vt:lpstr>
      <vt:lpstr>Handler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Duarte Paludzyszyn Moita De Deus De Araújo</dc:creator>
  <cp:lastModifiedBy>Burak Osman Yaldız</cp:lastModifiedBy>
  <cp:revision>4</cp:revision>
  <dcterms:created xsi:type="dcterms:W3CDTF">2026-01-04T15:38:04Z</dcterms:created>
  <dcterms:modified xsi:type="dcterms:W3CDTF">2026-01-05T15:01:08Z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0x0101006ED518BD29A2A8448C14533C37A60B76</vt:lpwstr>
  </property>
</Properties>
</file>